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99" r:id="rId3"/>
    <p:sldId id="286" r:id="rId4"/>
    <p:sldId id="285" r:id="rId5"/>
    <p:sldId id="270" r:id="rId6"/>
    <p:sldId id="271" r:id="rId7"/>
    <p:sldId id="298" r:id="rId8"/>
    <p:sldId id="257" r:id="rId9"/>
    <p:sldId id="263" r:id="rId11"/>
    <p:sldId id="287" r:id="rId12"/>
    <p:sldId id="258" r:id="rId13"/>
    <p:sldId id="264" r:id="rId14"/>
    <p:sldId id="265" r:id="rId15"/>
    <p:sldId id="259" r:id="rId16"/>
    <p:sldId id="266" r:id="rId17"/>
    <p:sldId id="288" r:id="rId18"/>
    <p:sldId id="289" r:id="rId19"/>
    <p:sldId id="290" r:id="rId20"/>
    <p:sldId id="260" r:id="rId21"/>
    <p:sldId id="267" r:id="rId22"/>
    <p:sldId id="291" r:id="rId23"/>
    <p:sldId id="261" r:id="rId24"/>
    <p:sldId id="268" r:id="rId25"/>
    <p:sldId id="292" r:id="rId26"/>
    <p:sldId id="293" r:id="rId27"/>
    <p:sldId id="294" r:id="rId28"/>
    <p:sldId id="295" r:id="rId29"/>
    <p:sldId id="296" r:id="rId30"/>
    <p:sldId id="272" r:id="rId31"/>
    <p:sldId id="273" r:id="rId32"/>
    <p:sldId id="274" r:id="rId33"/>
    <p:sldId id="275" r:id="rId34"/>
    <p:sldId id="276" r:id="rId35"/>
    <p:sldId id="277" r:id="rId36"/>
    <p:sldId id="279" r:id="rId37"/>
    <p:sldId id="280" r:id="rId38"/>
    <p:sldId id="281" r:id="rId39"/>
    <p:sldId id="282" r:id="rId40"/>
    <p:sldId id="283" r:id="rId41"/>
    <p:sldId id="284" r:id="rId4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5715"/>
            <a:ext cx="9079230" cy="5378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ma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"/>
            <a:ext cx="9144000" cy="4799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main_dialog_bo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1925"/>
            <a:ext cx="9144000" cy="4819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ystem_arcitectr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22020" y="-806450"/>
            <a:ext cx="10311765" cy="5863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10-04 0923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215" y="0"/>
            <a:ext cx="921321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23415" y="194310"/>
            <a:ext cx="9772650" cy="51701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SearchX Works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text files to ranked results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188720"/>
            <a:ext cx="1508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file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18872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188720"/>
            <a:ext cx="1508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words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18872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188720"/>
            <a:ext cx="1508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Inverted Index + BST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18872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1188720"/>
            <a:ext cx="1508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18872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0" y="1188720"/>
            <a:ext cx="1508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Heap 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377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cleaning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74320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Lowercase every word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only letters and digits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"Structures!" becomes structures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377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menu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74320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Search, 2 Vocabulary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Search algos, 4 Sorting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Graph, 6 History, 7 Recent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Sparse matrix, 9 Exit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 · Text Cleaning</a:t>
            </a:r>
            <a:endParaRPr lang="en-US" sz="2400" b="1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TextProcessor — every word is normalised before indexing or searching</a:t>
            </a:r>
            <a:endParaRPr lang="en-US" sz="1200" dirty="0">
              <a:solidFill>
                <a:srgbClr val="C5CCF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017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1EE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188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does</a:t>
            </a:r>
            <a:endParaRPr lang="en-US" sz="1400" b="1" dirty="0">
              <a:solidFill>
                <a:srgbClr val="3B5BD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594360" y="1554480"/>
            <a:ext cx="274320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Lowercase each character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Keep letters and digits only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Split on whitespace; empty results are dropped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Same cleaning is used for documents and queries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"C++" becomes c, "Structures!" becomes structures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594360" y="42976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Source: TextProcessor.cpp</a:t>
            </a:r>
            <a:endParaRPr lang="en-US" sz="1000" dirty="0">
              <a:solidFill>
                <a:srgbClr val="6B72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Code"/>
          <p:cNvSpPr/>
          <p:nvPr/>
        </p:nvSpPr>
        <p:spPr>
          <a:xfrm>
            <a:off x="3657600" y="109728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3794760" y="1188720"/>
            <a:ext cx="475488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TextProcessor.cpp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string TextProcessor::cleanWord(string word)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string cleaned = "";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for (int i = 0; i &lt; word.length(); i++)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char ch = tolower(word[i]);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if (isalnum(ch))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cleaned += ch;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cleaned;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processQuery / processDocument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stringstream ss(query);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(ss &gt;&gt; word)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string cleaned = cleanWord(word);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(cleaned != "") words.push_back(cleaned);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_sear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1770"/>
            <a:ext cx="9144000" cy="4759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· Search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Inverted index (27 linked-list buckets) + Max Heap ranking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54480"/>
            <a:ext cx="36576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the query words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= sum of word frequency per document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 with score &gt; 0 go into the Max Heap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extractMax() prints best match first</a:t>
            </a:r>
            <a:endParaRPr lang="en-US" sz="1200" dirty="0"/>
          </a:p>
          <a:p>
            <a:pPr indent="0">
              <a:spcAft>
                <a:spcPts val="400"/>
              </a:spcAft>
              <a:buSzPct val="100000"/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188720"/>
            <a:ext cx="37490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Enter search query: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Query: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Cleaned words: data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dsa.txt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Score: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algorithms.txt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Score: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4747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3566160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Enter search query: hello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 documents found.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 · Inverted Index</a:t>
            </a:r>
            <a:endParaRPr lang="en-US" sz="2400" b="1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InvertedIndex — 27 buckets (a–z + other), each a linked list of words</a:t>
            </a:r>
            <a:endParaRPr lang="en-US" sz="1200" dirty="0">
              <a:solidFill>
                <a:srgbClr val="C5CCF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017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1EE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188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does</a:t>
            </a:r>
            <a:endParaRPr lang="en-US" sz="1400" b="1" dirty="0">
              <a:solidFill>
                <a:srgbClr val="3B5BD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594360" y="1554480"/>
            <a:ext cx="274320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getIndex picks the bucket from the first letter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Each word node keeps a list of (document, frequency)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Existing word + document: frequency++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New word: node added at the head of its bucket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Lookup cost is O(B), the chain length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594360" y="42976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Source: InvertedIndex.cpp</a:t>
            </a:r>
            <a:endParaRPr lang="en-US" sz="1000" dirty="0">
              <a:solidFill>
                <a:srgbClr val="6B72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Code"/>
          <p:cNvSpPr/>
          <p:nvPr/>
        </p:nvSpPr>
        <p:spPr>
          <a:xfrm>
            <a:off x="3657600" y="109728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3794760" y="1188720"/>
            <a:ext cx="475488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InvertedIndex.cpp (condensed)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InvertedIndex::getIndex(string word)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(word == "") return 26;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char c = tolower(word[0]);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(c &gt;= 'a' &amp;&amp; c &lt;= 'z')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return c - 'a';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26;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void InvertedIndex::insert(string word, string fileName)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int index = getIndex(word);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WordNode* current = wordLists[index];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while (current != NULL)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if (current-&gt;word == word)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{ addDocument(current, fileName); return; 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current = current-&gt;next;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// word is new: create node, add document, insert at head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 · Scoring &amp; Max Heap</a:t>
            </a:r>
            <a:endParaRPr lang="en-US" sz="2400" b="1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SearchEngine::search() + MaxHeap — rank documents by total frequency</a:t>
            </a:r>
            <a:endParaRPr lang="en-US" sz="1200" dirty="0">
              <a:solidFill>
                <a:srgbClr val="C5CCF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017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1EE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188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does</a:t>
            </a:r>
            <a:endParaRPr lang="en-US" sz="1400" b="1" dirty="0">
              <a:solidFill>
                <a:srgbClr val="3B5BD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594360" y="1554480"/>
            <a:ext cx="274320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Score = sum of query-word frequencies in a document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Only documents with score &gt; 0 are inserted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heapifyUp keeps the largest score at the root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extractMax() prints the best match first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Insert / extract: O(log k)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594360" y="42976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Source: SearchEngine.cpp, Heap.cpp</a:t>
            </a:r>
            <a:endParaRPr lang="en-US" sz="1000" dirty="0">
              <a:solidFill>
                <a:srgbClr val="6B72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Code"/>
          <p:cNvSpPr/>
          <p:nvPr/>
        </p:nvSpPr>
        <p:spPr>
          <a:xfrm>
            <a:off x="3657600" y="109728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3794760" y="1188720"/>
            <a:ext cx="475488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SearchEngine.cpp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(int i = 0; i &lt; documentCount; i++)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int totalScore = 0;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for (int j = 0; j &lt; queryWords.size(); j++)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totalScore += searchIndex.getFrequency(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queryWords[j], fileNames[i]);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(totalScore &gt; 0)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resultHeap.insert(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SearchResult(fileNames[i], totalScore));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(!resultHeap.empty())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SearchResult result = resultHeap.extractMax();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Heap.cpp : heapifyUp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(index &gt; 0) {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int parent = (index - 1) / 2;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(heap[parent].score &gt;= heap[index].score) break;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swap heap[parent] and heap[index];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index = parent;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· Show Vocabulary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Search Tree — inorder traversal gives sorted unique words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BST rule: left &lt; node &lt; right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54480"/>
            <a:ext cx="36576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token inserted, duplicates ignored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Inorder traversal = alphabetical order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self-balancing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188720"/>
            <a:ext cx="374904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 unique words: 84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Words in alphabetical order: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a, algorithm, algorithms, an,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and, are, arrange, arrays,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between, binary, by, c, can,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classes 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 · BST Insert</a:t>
            </a:r>
            <a:endParaRPr lang="en-US" sz="2400" b="1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BST — recursive insertion, duplicates ignored, inorder = sorted</a:t>
            </a:r>
            <a:endParaRPr lang="en-US" sz="1200" dirty="0">
              <a:solidFill>
                <a:srgbClr val="C5CCF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017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1EE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188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does</a:t>
            </a:r>
            <a:endParaRPr lang="en-US" sz="1400" b="1" dirty="0">
              <a:solidFill>
                <a:srgbClr val="3B5BD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594360" y="1554480"/>
            <a:ext cx="274320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Smaller word goes left, larger goes right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Equal word: nothing is inserted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Inorder traversal visits left, node, right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getVocabulary() collects the sorted words in a vector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Average O(log V), worst O(V)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594360" y="42976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Source: BST.cpp</a:t>
            </a:r>
            <a:endParaRPr lang="en-US" sz="1000" dirty="0">
              <a:solidFill>
                <a:srgbClr val="6B72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Code"/>
          <p:cNvSpPr/>
          <p:nvPr/>
        </p:nvSpPr>
        <p:spPr>
          <a:xfrm>
            <a:off x="3657600" y="109728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3794760" y="1188720"/>
            <a:ext cx="475488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BST.cpp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BSTNode* BST::insertNode(BSTNode* node, string word)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(node == NULL)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return new BSTNode(word);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(word &lt; node-&gt;word)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node-&gt;left = insertNode(node-&gt;left, word);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else if (word &gt; node-&gt;word)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node-&gt;right = insertNode(node-&gt;right, word);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node;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void BST::inorderToVector(BSTNode* node,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        vector&lt;string&gt; &amp;words)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(node == NULL) return;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inorderToVector(node-&gt;left, words);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words.push_back(node-&gt;word);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inorderToVector(node-&gt;right, words);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2_show_vocabola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66370"/>
            <a:ext cx="9143365" cy="4810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0340"/>
            <a:ext cx="9144000" cy="47828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5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1770"/>
            <a:ext cx="9144000" cy="47593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· Document Graph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Vertex = document, edge weight = shared distinct words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2743200" cy="0"/>
          </a:xfrm>
          <a:prstGeom prst="line">
            <a:avLst/>
          </a:prstGeom>
          <a:noFill/>
          <a:ln w="19050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371600"/>
            <a:ext cx="0" cy="2560320"/>
          </a:xfrm>
          <a:prstGeom prst="line">
            <a:avLst/>
          </a:prstGeom>
          <a:noFill/>
          <a:ln w="19050">
            <a:solidFill>
              <a:srgbClr val="8A9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371600"/>
            <a:ext cx="0" cy="2560320"/>
          </a:xfrm>
          <a:prstGeom prst="line">
            <a:avLst/>
          </a:prstGeom>
          <a:noFill/>
          <a:ln w="19050">
            <a:solidFill>
              <a:srgbClr val="8A9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3931920"/>
            <a:ext cx="2743200" cy="0"/>
          </a:xfrm>
          <a:prstGeom prst="line">
            <a:avLst/>
          </a:prstGeom>
          <a:noFill/>
          <a:ln w="19050">
            <a:solidFill>
              <a:srgbClr val="8A9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371600"/>
            <a:ext cx="2743200" cy="2560320"/>
          </a:xfrm>
          <a:prstGeom prst="line">
            <a:avLst/>
          </a:prstGeom>
          <a:noFill/>
          <a:ln w="19050">
            <a:solidFill>
              <a:srgbClr val="8A9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97280" y="1371600"/>
            <a:ext cx="2743200" cy="2560320"/>
          </a:xfrm>
          <a:prstGeom prst="line">
            <a:avLst/>
          </a:prstGeom>
          <a:noFill/>
          <a:ln w="19050">
            <a:solidFill>
              <a:srgbClr val="8A93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68880" y="117043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90C"/>
                </a:solidFill>
              </a:rPr>
              <a:t>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65176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90C"/>
                </a:solidFill>
              </a:rPr>
              <a:t>7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187952" y="265176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90C"/>
                </a:solidFill>
              </a:rPr>
              <a:t>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411480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90C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233172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90C"/>
                </a:solidFill>
              </a:rPr>
              <a:t>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33172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90C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1097280"/>
            <a:ext cx="914400" cy="548640"/>
          </a:xfrm>
          <a:prstGeom prst="ellipse">
            <a:avLst/>
          </a:prstGeom>
          <a:solidFill>
            <a:srgbClr val="3B5B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109728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dsa.txt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1097280"/>
            <a:ext cx="914400" cy="548640"/>
          </a:xfrm>
          <a:prstGeom prst="ellipse">
            <a:avLst/>
          </a:prstGeom>
          <a:solidFill>
            <a:srgbClr val="3B5B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109728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cpp.txt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914400" cy="548640"/>
          </a:xfrm>
          <a:prstGeom prst="ellipse">
            <a:avLst/>
          </a:prstGeom>
          <a:solidFill>
            <a:srgbClr val="3B5B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6576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algorithms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657600"/>
            <a:ext cx="914400" cy="548640"/>
          </a:xfrm>
          <a:prstGeom prst="ellipse">
            <a:avLst/>
          </a:prstGeom>
          <a:solidFill>
            <a:srgbClr val="3B5B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36576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10972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40680" y="118872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BFS: dsa.txt database.txt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algorithms.txt cpp.txt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DFS: dsa.txt database.txt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algorithms.txt cpp.txt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Shortest Path: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dsa.txt -&gt; database.txt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Number of edges: 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56616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graph: every pair shares words. Shortest path uses BFS (fewest edges, weights ignored). Time O(V+E).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 · Graph Build &amp; BFS</a:t>
            </a:r>
            <a:endParaRPr lang="en-US" sz="2400" b="1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Graph — adjacency list, undirected; weight = shared distinct words</a:t>
            </a:r>
            <a:endParaRPr lang="en-US" sz="1200" dirty="0">
              <a:solidFill>
                <a:srgbClr val="C5CCF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017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1EE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188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does</a:t>
            </a:r>
            <a:endParaRPr lang="en-US" sz="1400" b="1" dirty="0">
              <a:solidFill>
                <a:srgbClr val="3B5BD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594360" y="1554480"/>
            <a:ext cx="274320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document pair (i, j) is compared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commonWords counts distinct words found in both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addEdge stores the edge in both directions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BFS uses an array queue and a visited array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Time O(V + E)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594360" y="42976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Source: SearchEngine.cpp, Graph.cpp (BFS loop shortened)</a:t>
            </a:r>
            <a:endParaRPr lang="en-US" sz="1000" dirty="0">
              <a:solidFill>
                <a:srgbClr val="6B72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Code"/>
          <p:cNvSpPr/>
          <p:nvPr/>
        </p:nvSpPr>
        <p:spPr>
          <a:xfrm>
            <a:off x="3657600" y="109728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3794760" y="1188720"/>
            <a:ext cx="475488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SearchEngine::buildDocumentGraph (condensed)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(int i = 0; i &lt; documentCount; i++)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for (int j = i + 1; j &lt; documentCount; j++)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int commonWords = 0;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// count distinct words of document i found in j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(commonWords &gt; 0)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documentGraph-&gt;addEdge(i, j, commonWords);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Graph.cpp : BFS loop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(front &lt; rear)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int currentVertex = queue[front++];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cout &lt;&lt; vertexNames[currentVertex] &lt;&lt; " ";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for (EdgeNode* e = adjacency[currentVertex];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e != NULL; e = e-&gt;next)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if (!visited[e-&gt;vertex]) {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visited[e-&gt;vertex] = true;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queue[rear++] = e-&gt;vertex; 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6_bo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8910"/>
            <a:ext cx="9144000" cy="4805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· Search History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(LIFO) for history, Deque for recent searches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— SearchHistory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5448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 / pop 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newest search 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Deque — RecentSearchDeque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5448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Doubly linked list, O(1) at both ends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Oldest first; remove oldest or latest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7889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Search History 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 dsa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 hello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Removed search: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Latest search: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Number of searches: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974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7889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Recent Searches 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dsa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Removed oldest search: dsa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Removed latest search: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Recent search count: 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559"/>
          </a:solidFill>
          <a:ln w="12700">
            <a:solidFill>
              <a:srgbClr val="1B2559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 · Stack &amp; Deque</a:t>
            </a:r>
            <a:endParaRPr lang="en-US" sz="2400" b="1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CF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SearchHistory (LIFO) and RecentSearchDeque (both ends)</a:t>
            </a:r>
            <a:endParaRPr lang="en-US" sz="1200" dirty="0">
              <a:solidFill>
                <a:srgbClr val="C5CCF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017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1EE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594360" y="1188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does</a:t>
            </a:r>
            <a:endParaRPr lang="en-US" sz="1400" b="1" dirty="0">
              <a:solidFill>
                <a:srgbClr val="3B5BD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594360" y="1554480"/>
            <a:ext cx="274320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search() calls history.push(query) and recentSearches.pushBack(query)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Stack: top is the newest search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Deque: front is the oldest, rear is the newest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popFront removes the oldest, popBack the latest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1A2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All of these run in O(1)</a:t>
            </a:r>
            <a:endParaRPr lang="en-US" sz="1200" dirty="0">
              <a:solidFill>
                <a:srgbClr val="161A2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594360" y="42976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Source: SearchHistory.cpp, RecentSearchDeque.cpp (shortened)</a:t>
            </a:r>
            <a:endParaRPr lang="en-US" sz="1000" dirty="0">
              <a:solidFill>
                <a:srgbClr val="6B728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Code"/>
          <p:cNvSpPr/>
          <p:nvPr/>
        </p:nvSpPr>
        <p:spPr>
          <a:xfrm>
            <a:off x="3657600" y="109728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3794760" y="1188720"/>
            <a:ext cx="475488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SearchHistory.cpp : push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HistoryNode* newNode = new HistoryNode(query);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newNode-&gt;next = top;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top = newNode;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count++;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RecentSearchDeque.cpp : pushBack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DequeNode* newNode = new DequeNode(query);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newNode-&gt;previous = rear;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rear-&gt;next = newNode;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rear = newNode;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RecentSearchDeque.cpp : popFront</a:t>
            </a:r>
            <a:endParaRPr lang="en-US" sz="1000" dirty="0">
              <a:solidFill>
                <a:srgbClr val="8B949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DequeNode* temp = front;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string query = front-&gt;query;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front = front-&gt;next;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(front == NULL) rear = NULL;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 front-&gt;previous = NULL;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delete temp; count--;</a:t>
            </a:r>
            <a:endParaRPr lang="en-US" sz="1000" dirty="0">
              <a:solidFill>
                <a:srgbClr val="7EE78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5CC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 query;</a:t>
            </a:r>
            <a:endParaRPr lang="en-US" sz="1000" dirty="0">
              <a:solidFill>
                <a:srgbClr val="C5CCF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7_1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8435"/>
            <a:ext cx="9144000" cy="47859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7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7960"/>
            <a:ext cx="9144000" cy="47669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7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3355"/>
            <a:ext cx="9144000" cy="47967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7_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2405"/>
            <a:ext cx="9144000" cy="47580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7325"/>
            <a:ext cx="9144000" cy="47682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" y="0"/>
            <a:ext cx="910209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15"/>
            <a:ext cx="9144000" cy="51314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15"/>
            <a:ext cx="9144000" cy="51314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" y="0"/>
            <a:ext cx="910018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15"/>
            <a:ext cx="9144000" cy="51314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0"/>
            <a:ext cx="9144000" cy="511746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" y="0"/>
            <a:ext cx="914082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9144000" cy="51371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" y="0"/>
            <a:ext cx="91179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85"/>
            <a:ext cx="9144000" cy="512953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05"/>
            <a:ext cx="9144000" cy="511365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05"/>
            <a:ext cx="9144000" cy="5113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7008</Words>
  <Application>WPS Presentation</Application>
  <PresentationFormat>On-screen Show (16:9)</PresentationFormat>
  <Paragraphs>348</Paragraphs>
  <Slides>39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3" baseType="lpstr">
      <vt:lpstr>Arial</vt:lpstr>
      <vt:lpstr>SimSun</vt:lpstr>
      <vt:lpstr>Wingdings</vt:lpstr>
      <vt:lpstr>Calibri</vt:lpstr>
      <vt:lpstr>Calibri</vt:lpstr>
      <vt:lpstr>Calibri</vt:lpstr>
      <vt:lpstr>Calibri</vt:lpstr>
      <vt:lpstr>Consolas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SearchX</dc:title>
  <dc:creator>PptxGenJS</dc:creator>
  <dc:subject>PptxGenJS Presentation</dc:subject>
  <cp:lastModifiedBy>surface 4</cp:lastModifiedBy>
  <cp:revision>7</cp:revision>
  <dcterms:created xsi:type="dcterms:W3CDTF">2026-10-03T19:23:00Z</dcterms:created>
  <dcterms:modified xsi:type="dcterms:W3CDTF">2026-10-04T04:46:31Z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9FAF60E739334635997A6350279E0253_13</vt:lpwstr>
  </property>
</Properties>
</file>